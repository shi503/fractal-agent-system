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22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3062"/>
            <a:ext cx="4952991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974" b="1" kern="0" spc="-2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
FRACTAL
SYSTEM</a:t>
            </a:r>
            <a:endParaRPr lang="en-US" sz="4974" dirty="0"/>
          </a:p>
        </p:txBody>
      </p:sp>
      <p:sp>
        <p:nvSpPr>
          <p:cNvPr id="4" name="Shape 1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24616" y="428625"/>
            <a:ext cx="2190731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Hierarchical Framework for Orchestrating AI Agent Teams in Software Development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6524616" y="3489722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FRACTAL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524616" y="3664744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RECURSIVE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524616" y="3839766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524616" y="4014788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CONTEXT-AWARE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524616" y="4189809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TASK-DRIVEN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524616" y="4364831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524616" y="4539853"/>
            <a:ext cx="21907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LAYERED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183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SINGLE-AGENT PROMPTING BREAKS DOWN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8286750" cy="2500313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59086"/>
            <a:ext cx="8001000" cy="22145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4083379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35-Minute Cliff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28625" y="4354841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0F0F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research shows autonomous agents degrade rapidly as context drifts and constraints blur over time.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4714875" y="4083379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10x Gap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714875" y="4354841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0F0F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specification yields 10x better results than iterative chat prompting for complex tasks.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573286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FOUR DISCIPLINES OF PROMPTING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85788" y="1587698"/>
            <a:ext cx="2657475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SPECIFICATION ENGINEERING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3243263" y="1587698"/>
            <a:ext cx="1771650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Strategist + Architect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14913" y="1587698"/>
            <a:ext cx="3543300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to execute and why"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788" y="2423517"/>
            <a:ext cx="7972425" cy="83581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788" y="3252192"/>
            <a:ext cx="7972425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5788" y="2423517"/>
            <a:ext cx="2657475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ENGINEERING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243263" y="2423517"/>
            <a:ext cx="1771650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14913" y="2423517"/>
            <a:ext cx="3543300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to want and optimize for"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5788" y="3259336"/>
            <a:ext cx="2657475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ENGINEERING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243263" y="3259336"/>
            <a:ext cx="1771650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14913" y="3259336"/>
            <a:ext cx="3543300" cy="8286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to know for this workstream"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788" y="4095155"/>
            <a:ext cx="7972425" cy="83581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788" y="4095155"/>
            <a:ext cx="2657475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CRAFT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3243263" y="4095155"/>
            <a:ext cx="1771650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14913" y="4095155"/>
            <a:ext cx="3543300" cy="835819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to do right now"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183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FRACTAL ORG CHART FOR AI AGENTS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3857625" y="1116211"/>
            <a:ext cx="1428750" cy="564356"/>
          </a:xfrm>
          <a:prstGeom prst="rect">
            <a:avLst/>
          </a:prstGeom>
          <a:solidFill>
            <a:srgbClr val="1E1E1E"/>
          </a:solidFill>
          <a:ln w="18288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71938" y="1223367"/>
            <a:ext cx="10001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STRATEGIST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071938" y="1426964"/>
            <a:ext cx="10001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Seed of Intent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857625" y="1866305"/>
            <a:ext cx="1428750" cy="564356"/>
          </a:xfrm>
          <a:prstGeom prst="rect">
            <a:avLst/>
          </a:prstGeom>
          <a:solidFill>
            <a:srgbClr val="1E1E1E"/>
          </a:solidFill>
          <a:ln w="18288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71938" y="1973461"/>
            <a:ext cx="10001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071938" y="2177058"/>
            <a:ext cx="10001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Orchestrator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3098602" y="2616398"/>
            <a:ext cx="2946797" cy="1428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39641" y="2616398"/>
            <a:ext cx="14288" cy="21431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16336" y="2830711"/>
            <a:ext cx="1446609" cy="564356"/>
          </a:xfrm>
          <a:prstGeom prst="rect">
            <a:avLst/>
          </a:prstGeom>
          <a:solidFill>
            <a:srgbClr val="1E1E1E"/>
          </a:solidFill>
          <a:ln w="18288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39578" y="2937867"/>
            <a:ext cx="10001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339578" y="3141464"/>
            <a:ext cx="10001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 System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2232422" y="3509367"/>
            <a:ext cx="571500" cy="258961"/>
          </a:xfrm>
          <a:prstGeom prst="rect">
            <a:avLst/>
          </a:prstGeom>
          <a:solidFill>
            <a:srgbClr val="333333"/>
          </a:solidFill>
          <a:ln w="9144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11028" y="3366492"/>
            <a:ext cx="7144" cy="142875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32422" y="3509367"/>
            <a:ext cx="571500" cy="25896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2875359" y="3509367"/>
            <a:ext cx="571500" cy="258961"/>
          </a:xfrm>
          <a:prstGeom prst="rect">
            <a:avLst/>
          </a:prstGeom>
          <a:solidFill>
            <a:srgbClr val="333333"/>
          </a:solidFill>
          <a:ln w="9144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53966" y="3366492"/>
            <a:ext cx="7144" cy="142875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875359" y="3509367"/>
            <a:ext cx="571500" cy="25896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563070" y="2616398"/>
            <a:ext cx="14288" cy="21431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839766" y="2830711"/>
            <a:ext cx="1446609" cy="564356"/>
          </a:xfrm>
          <a:prstGeom prst="rect">
            <a:avLst/>
          </a:prstGeom>
          <a:solidFill>
            <a:srgbClr val="1E1E1E"/>
          </a:solidFill>
          <a:ln w="18288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63008" y="2937867"/>
            <a:ext cx="10001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063008" y="3141464"/>
            <a:ext cx="10001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4277320" y="3509367"/>
            <a:ext cx="571500" cy="258961"/>
          </a:xfrm>
          <a:prstGeom prst="rect">
            <a:avLst/>
          </a:prstGeom>
          <a:solidFill>
            <a:srgbClr val="333333"/>
          </a:solidFill>
          <a:ln w="9144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55927" y="3366492"/>
            <a:ext cx="7144" cy="142875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77320" y="3509367"/>
            <a:ext cx="571500" cy="25896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6286500" y="2616398"/>
            <a:ext cx="14288" cy="21431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563195" y="2830711"/>
            <a:ext cx="1446609" cy="564356"/>
          </a:xfrm>
          <a:prstGeom prst="rect">
            <a:avLst/>
          </a:prstGeom>
          <a:solidFill>
            <a:srgbClr val="1E1E1E"/>
          </a:solidFill>
          <a:ln w="18288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86438" y="2937867"/>
            <a:ext cx="10001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5786438" y="3141464"/>
            <a:ext cx="10001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5679281" y="3509367"/>
            <a:ext cx="571500" cy="258961"/>
          </a:xfrm>
          <a:prstGeom prst="rect">
            <a:avLst/>
          </a:prstGeom>
          <a:solidFill>
            <a:srgbClr val="333333"/>
          </a:solidFill>
          <a:ln w="9144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957888" y="3366492"/>
            <a:ext cx="7144" cy="142875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679281" y="3509367"/>
            <a:ext cx="571500" cy="25896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6322219" y="3509367"/>
            <a:ext cx="571500" cy="258961"/>
          </a:xfrm>
          <a:prstGeom prst="rect">
            <a:avLst/>
          </a:prstGeom>
          <a:solidFill>
            <a:srgbClr val="333333"/>
          </a:solidFill>
          <a:ln w="9144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600825" y="3366492"/>
            <a:ext cx="7144" cy="142875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22219" y="3509367"/>
            <a:ext cx="571500" cy="25896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800600" cy="8001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STRATEGIST:
THE SEED OF INTENT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1628775"/>
            <a:ext cx="4800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MANDATE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857375"/>
            <a:ext cx="48006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single-sentence goal.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2216348"/>
            <a:ext cx="4800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INTENT &amp; PRINCIPLES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2444948"/>
            <a:ext cx="48006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Values guiding all decisions.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803922"/>
            <a:ext cx="4800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 OF DONE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3032522"/>
            <a:ext cx="48006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Verifiable high-level outcomes.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391495"/>
            <a:ext cx="4800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 ARCHITECTURE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3620095"/>
            <a:ext cx="48006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stack, budget, timeline.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3979069"/>
            <a:ext cx="4800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MODE REGISTER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4207669"/>
            <a:ext cx="48006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Subtle ways to fail despite technical success.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514975" y="571500"/>
            <a:ext cx="3200400" cy="3995142"/>
          </a:xfrm>
          <a:prstGeom prst="rect">
            <a:avLst/>
          </a:prstGeom>
          <a:solidFill>
            <a:srgbClr val="1E1E1E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1645741"/>
            <a:ext cx="2800350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AUTONOMY LEVEL</a:t>
            </a:r>
            <a:endParaRPr lang="en-US" sz="1602" dirty="0"/>
          </a:p>
        </p:txBody>
      </p:sp>
      <p:sp>
        <p:nvSpPr>
          <p:cNvPr id="16" name="Shape 13"/>
          <p:cNvSpPr/>
          <p:nvPr/>
        </p:nvSpPr>
        <p:spPr>
          <a:xfrm>
            <a:off x="5715000" y="2056507"/>
            <a:ext cx="2800350" cy="319683"/>
          </a:xfrm>
          <a:prstGeom prst="rect">
            <a:avLst/>
          </a:prstGeom>
          <a:solidFill>
            <a:srgbClr val="121212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15000" y="2056507"/>
            <a:ext cx="280035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5715000" y="2454771"/>
            <a:ext cx="2800350" cy="319683"/>
          </a:xfrm>
          <a:prstGeom prst="rect">
            <a:avLst/>
          </a:prstGeom>
          <a:solidFill>
            <a:srgbClr val="F0F0F0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2454771"/>
            <a:ext cx="280035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212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SEMI-AUTONOMOUS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5715000" y="2853035"/>
            <a:ext cx="2800350" cy="319683"/>
          </a:xfrm>
          <a:prstGeom prst="rect">
            <a:avLst/>
          </a:prstGeom>
          <a:solidFill>
            <a:srgbClr val="121212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15000" y="2853035"/>
            <a:ext cx="280035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715000" y="3337024"/>
            <a:ext cx="28003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"Trust Dial" controls user check-ins.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2589638" cy="105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</a:t>
            </a:r>
            <a:r>
              <a:rPr lang="en-US" sz="4145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r>
              <a:rPr lang="en-US" sz="3600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28625" y="3483332"/>
            <a:ext cx="232646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GOLDEN RULE:
NEVER WRITE CODE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4174824"/>
            <a:ext cx="232646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Architect's context window is sacred. It must not be consumed by implementation details or bug fixes.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719494" y="1203722"/>
            <a:ext cx="49958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 &amp; Blueprint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3719494" y="1509117"/>
            <a:ext cx="49958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Consolidates project intent and generates the deterministic execution plan.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19494" y="1923455"/>
            <a:ext cx="49958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Delegate via PRDs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3719494" y="2228850"/>
            <a:ext cx="49958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structured Product Requirements Documents for Feature Leads.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719494" y="2643188"/>
            <a:ext cx="49958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&amp; Approve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719494" y="2948583"/>
            <a:ext cx="49958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Acts as the quality gate, reviewing completed work against the original spec.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19494" y="3362920"/>
            <a:ext cx="49958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Context Resets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3719494" y="3668316"/>
            <a:ext cx="49958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Loads fresh context for each evaluation to prevent drift and hallucination.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38668"/>
            <a:ext cx="3786188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"Don't Orchestrate With LLMs"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804495"/>
            <a:ext cx="37861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0F0F0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shows that placing flow control inside prompts introduces failure modes. </a:t>
            </a:r>
            <a:r>
              <a:rPr lang="en-US" sz="1193" b="1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are unreliable routers.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2790332"/>
            <a:ext cx="37861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0F0F0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FRACTAL blueprint is a deterministic state machine. A Python script parses dependencies and decides what runs next.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3776170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0F0F0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Rule:</a:t>
            </a:r>
            <a:r>
              <a:rPr lang="en-US" sz="1269" dirty="0">
                <a:solidFill>
                  <a:srgbClr val="F0F0F0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LLMs do the creative work. Code handles the plumbing.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786313" y="571500"/>
            <a:ext cx="3786188" cy="40005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86313" y="571500"/>
            <a:ext cx="28575" cy="4000500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72063" y="1277308"/>
            <a:ext cx="32146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kern="0" spc="2" dirty="0">
                <a:solidFill>
                  <a:srgbClr val="88888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BLUEPRINT.MD (YAML)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072063" y="1580192"/>
            <a:ext cx="3214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name: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1050" dirty="0">
                <a:solidFill>
                  <a:srgbClr val="6A875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 2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workstreams: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feature_lead: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1050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FeatureLead-Dashboard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dependencies: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1050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FeatureLead-Auth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1050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FeatureLead-API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feature_lead: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1050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FeatureLead-Settings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987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dependencies:</a:t>
            </a:r>
            <a:r>
              <a:rPr lang="en-US" sz="1050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 </a:t>
            </a:r>
            <a:r>
              <a:rPr lang="en-US" sz="1050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FeatureLead-Auth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01836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LEADS &amp; SUB-AGENTS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51980"/>
            <a:ext cx="34419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Ownership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823442"/>
            <a:ext cx="344197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Leads own their domain end-to-end. They receive a PRD and are responsible for delivery, managing their own context and state.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766417"/>
            <a:ext cx="34419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Bounded Delegation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037880"/>
            <a:ext cx="344197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prevent chaos, Feature Leads can spawn a maximum of 2 Sub-Agents. This hard limit forces decomposition into manageable chunks.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980855"/>
            <a:ext cx="34419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Execution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252317"/>
            <a:ext cx="344197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Sub-Agents are the leaf nodes. They receive a specific task, execute it on a specific file, and terminate immediately.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449245" y="1961852"/>
            <a:ext cx="1141940" cy="43041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84041" y="1961852"/>
            <a:ext cx="7144" cy="43041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49245" y="2385120"/>
            <a:ext cx="1141940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49245" y="1961852"/>
            <a:ext cx="1141940" cy="43041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5591184" y="1961852"/>
            <a:ext cx="1122936" cy="43041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06977" y="1961852"/>
            <a:ext cx="7144" cy="43041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91184" y="2385120"/>
            <a:ext cx="1122936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91184" y="1961852"/>
            <a:ext cx="1122936" cy="43041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TIER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6714120" y="1961852"/>
            <a:ext cx="1851236" cy="43041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714120" y="2385120"/>
            <a:ext cx="1851236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714120" y="1961852"/>
            <a:ext cx="1851236" cy="43041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PERMISSIONS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449245" y="2392263"/>
            <a:ext cx="1141940" cy="5572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591184" y="2361586"/>
            <a:ext cx="1122936" cy="61856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Opus (High) /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Sonnet (High) 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860567" y="2535138"/>
            <a:ext cx="111085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Read-write own folder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860567" y="2669084"/>
            <a:ext cx="114835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Spawns Feature Leads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449245" y="2949476"/>
            <a:ext cx="1141940" cy="5607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Lead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591184" y="2920745"/>
            <a:ext cx="1122936" cy="61824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Sonnet (High) /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Sonnet (Mid)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860567" y="3095923"/>
            <a:ext cx="125551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Read-write feature folder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860567" y="3229868"/>
            <a:ext cx="92690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2 Sub-Agents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449245" y="3510260"/>
            <a:ext cx="1141940" cy="564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Sub-Agent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591184" y="3483315"/>
            <a:ext cx="1122936" cy="61824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Sonnet (Low) /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Haiku (Low)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6860567" y="3656707"/>
            <a:ext cx="126980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Read-write assigned files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6860567" y="3790652"/>
            <a:ext cx="1572546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delegation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DDDDD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*Tip: for Angular, never use Haiku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1836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PULSE LOG: CHEAP HEARTBEATS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4000500" cy="2755702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009055"/>
            <a:ext cx="1610916" cy="221456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1009055"/>
            <a:ext cx="1610916" cy="221456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2121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PULSE.MD (FEATURE LEAD)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42938" y="134123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42938" y="1512689"/>
            <a:ext cx="7465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876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"timestamp"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1389459" y="15126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1525191" y="1512689"/>
            <a:ext cx="9501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A875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"22:00:00 UTC"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475309" y="151268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42938" y="1684139"/>
            <a:ext cx="542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876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"status"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1185863" y="168413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1321594" y="1684139"/>
            <a:ext cx="610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A875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"BLOCKED"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932384" y="168413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642938" y="1855589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876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"progress"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1321594" y="18555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1457325" y="1855589"/>
            <a:ext cx="339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A875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"2/5"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1796653" y="185558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42938" y="2027039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876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"blockers"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321594" y="202703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1457325" y="2027039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A875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"DB Timeout"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271713" y="202703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42938" y="2198489"/>
            <a:ext cx="12894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876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"escalation_needed"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1932384" y="21984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2068116" y="2198489"/>
            <a:ext cx="271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783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42938" y="236993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714875" y="1116211"/>
            <a:ext cx="4000500" cy="2755702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57750" y="1009055"/>
            <a:ext cx="1671638" cy="221456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57750" y="1009055"/>
            <a:ext cx="1671638" cy="221456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2121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ROUTER CHECK (ARCHITECT)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929188" y="1341239"/>
            <a:ext cx="24431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 python3 router.py pulse ./PULSE.md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929188" y="1684139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HEARTBEAT_ALERT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929188" y="1855589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Status: BLOCKED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929188" y="2027039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Progress: 2/5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929188" y="2198489"/>
            <a:ext cx="1357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Blockers: DB Timeout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929188" y="2369939"/>
            <a:ext cx="19002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Action: Escalation required.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428625" y="4314825"/>
            <a:ext cx="828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"Cheap checks first, models only when you need them."
The Architect only consumes context tokens when a </a:t>
            </a: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HEARTBEAT_ALERT</a:t>
            </a:r>
            <a:r>
              <a:rPr lang="en-US" sz="1269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triggered.</a:t>
            </a:r>
            <a:endParaRPr lang="en-US" sz="12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48798"/>
            <a:ext cx="2971800" cy="7543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TRACE
AS TRUTH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588884"/>
            <a:ext cx="29718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can narrate success while failing. We trust </a:t>
            </a: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outputs</a:t>
            </a:r>
            <a:r>
              <a:rPr lang="en-US" sz="1269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changes</a:t>
            </a:r>
            <a:r>
              <a:rPr lang="en-US" sz="1269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conversation history.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114800" y="1221581"/>
            <a:ext cx="4457700" cy="1107281"/>
          </a:xfrm>
          <a:prstGeom prst="rect">
            <a:avLst/>
          </a:prstGeom>
          <a:solidFill>
            <a:srgbClr val="1E1E1E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831" y="1622524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2050" y="1450181"/>
            <a:ext cx="27324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 1: DETERMINISTIC CHECKS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972050" y="1721644"/>
            <a:ext cx="27324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Linting, Unit Tests, Static Analysis, Security Audit.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972050" y="1927027"/>
            <a:ext cx="594717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972050" y="1927027"/>
            <a:ext cx="594717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</a:t>
            </a:r>
            <a:endParaRPr lang="en-US" sz="584" dirty="0"/>
          </a:p>
        </p:txBody>
      </p:sp>
      <p:sp>
        <p:nvSpPr>
          <p:cNvPr id="11" name="Shape 7"/>
          <p:cNvSpPr/>
          <p:nvPr/>
        </p:nvSpPr>
        <p:spPr>
          <a:xfrm>
            <a:off x="5638205" y="1927027"/>
            <a:ext cx="660797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38205" y="1927027"/>
            <a:ext cx="660797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REPEATABLE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6370439" y="1927027"/>
            <a:ext cx="423267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370439" y="1927027"/>
            <a:ext cx="423267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CHEAP</a:t>
            </a:r>
            <a:endParaRPr lang="en-US" sz="584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356" y="2466380"/>
            <a:ext cx="128588" cy="1714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14800" y="2800350"/>
            <a:ext cx="4457700" cy="1107281"/>
          </a:xfrm>
          <a:prstGeom prst="rect">
            <a:avLst/>
          </a:prstGeom>
          <a:solidFill>
            <a:srgbClr val="1E1E1E"/>
          </a:solidFill>
          <a:ln w="18288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50" y="3201293"/>
            <a:ext cx="285750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72050" y="3028950"/>
            <a:ext cx="24413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 2: LLM JUDGMENT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4972050" y="3300413"/>
            <a:ext cx="244137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Alignment, Design Quality, Maintainability.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4972050" y="3505795"/>
            <a:ext cx="646509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972050" y="3505795"/>
            <a:ext cx="646509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SUBJECTIVE</a:t>
            </a:r>
            <a:endParaRPr lang="en-US" sz="584" dirty="0"/>
          </a:p>
        </p:txBody>
      </p:sp>
      <p:sp>
        <p:nvSpPr>
          <p:cNvPr id="22" name="Shape 16"/>
          <p:cNvSpPr/>
          <p:nvPr/>
        </p:nvSpPr>
        <p:spPr>
          <a:xfrm>
            <a:off x="5689997" y="3505795"/>
            <a:ext cx="539353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689997" y="3505795"/>
            <a:ext cx="539353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NUANCED</a:t>
            </a:r>
            <a:endParaRPr lang="en-US" sz="584" dirty="0"/>
          </a:p>
        </p:txBody>
      </p:sp>
      <p:sp>
        <p:nvSpPr>
          <p:cNvPr id="24" name="Shape 18"/>
          <p:cNvSpPr/>
          <p:nvPr/>
        </p:nvSpPr>
        <p:spPr>
          <a:xfrm>
            <a:off x="6300788" y="3505795"/>
            <a:ext cx="596503" cy="17323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300788" y="3505795"/>
            <a:ext cx="596503" cy="173236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</a:t>
            </a:r>
            <a:endParaRPr lang="en-US" sz="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21714"/>
            <a:ext cx="3786188" cy="12001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
DETERMINISTIC
ROUTER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2207614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init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428750" y="2255834"/>
            <a:ext cx="196810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Parses blueprint, creates state file.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614445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428750" y="2662665"/>
            <a:ext cx="29289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Resolves dependency graph, returns ready workstreams.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201293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update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428750" y="3249513"/>
            <a:ext cx="288964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Transitions status (NOT_STARTED → COMPLETE).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608124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428750" y="3656344"/>
            <a:ext cx="187702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view with progress %.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4014955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pulse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428750" y="4063175"/>
            <a:ext cx="257353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heartbeat logs for escalation signals.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786313" y="964406"/>
            <a:ext cx="3786188" cy="3214688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29188" y="1414463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python3 router.py status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929188" y="1564481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Progress: 3/8 (37%)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929188" y="1785938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===================================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929188" y="2007394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[COMPLETE] (3)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929188" y="2228850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FeatureLead-Auth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929188" y="2450306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FeatureLead-Database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929188" y="2671763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FeatureLead-API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929188" y="3043238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[IN_PROGRESS] (1)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929188" y="3264694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FeatureLead-Frontend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929188" y="3636169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python3 router.py next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929188" y="3786188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 new workstreams ready. Waiting on: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929188" y="4007644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0F0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[IN_PROGRESS] FeatureLead-Frontend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929188" y="4379119"/>
            <a:ext cx="3500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D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r>
              <a:rPr lang="en-US" sz="834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1836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DESIGN PRINCIPLES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2619356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2938" y="1330523"/>
            <a:ext cx="21907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42938" y="1637705"/>
            <a:ext cx="219073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CONTROL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42938" y="1877020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Upper hierarchy can always unblock lower hierarchy, but critical decisions escalate up.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3262294" y="1116211"/>
            <a:ext cx="2619384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6606" y="1330523"/>
            <a:ext cx="21907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476606" y="1637705"/>
            <a:ext cx="21907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CONTEXT RESETS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476606" y="1877020"/>
            <a:ext cx="21907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start fresh with well-defined context files to prevent drift and hallucination.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6095991" y="1116211"/>
            <a:ext cx="2619356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10303" y="1330523"/>
            <a:ext cx="21907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310303" y="1637705"/>
            <a:ext cx="2190731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ORCHESTRATION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310303" y="2044898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handles sequencing and state management; LLMs focus purely on creative work.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3022699"/>
            <a:ext cx="2619356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2938" y="3237012"/>
            <a:ext cx="21907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42938" y="3544193"/>
            <a:ext cx="219073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READ-ONLY INPUTS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642938" y="3783509"/>
            <a:ext cx="21907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hierarchy layers cannot override decisions or context set by higher layers.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3262294" y="3022699"/>
            <a:ext cx="2619384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476606" y="3237012"/>
            <a:ext cx="21907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3476606" y="3544193"/>
            <a:ext cx="21907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PERMISSIONS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476606" y="3783509"/>
            <a:ext cx="21907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tiers and tool access are strictly matched to the cost and risk of the task.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6095991" y="3022699"/>
            <a:ext cx="2619356" cy="1692176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10303" y="3237012"/>
            <a:ext cx="21907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6310303" y="3544193"/>
            <a:ext cx="219073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AUTONOMY TRUST DIAL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6310303" y="3783509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start with supervised execution and gradually increase autonomy as confidence grows.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01836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GETTING STARTED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01961"/>
            <a:ext cx="2476481" cy="317003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401961"/>
            <a:ext cx="2476481" cy="28575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376469" y="1544836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857250" y="1687711"/>
            <a:ext cx="713337" cy="229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857250" y="2064544"/>
            <a:ext cx="1904981" cy="3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the </a:t>
            </a:r>
            <a:r>
              <a:rPr lang="en-US" sz="885" b="1" dirty="0" err="1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README.md</a:t>
            </a: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 and copy over the files and install the skills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857250" y="3939778"/>
            <a:ext cx="1904981" cy="346472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7250" y="3939778"/>
            <a:ext cx="14288" cy="346472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7250" y="3939778"/>
            <a:ext cx="1904981" cy="3683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View </a:t>
            </a:r>
            <a:r>
              <a:rPr lang="en-US" sz="727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README.md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3333731" y="1401961"/>
            <a:ext cx="2476509" cy="317003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33731" y="1401961"/>
            <a:ext cx="2476509" cy="28575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38728" y="1544836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3619481" y="1687711"/>
            <a:ext cx="596317" cy="229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3619481" y="2064544"/>
            <a:ext cx="1905009" cy="1713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(Manual)</a:t>
            </a:r>
          </a:p>
          <a:p>
            <a:pPr>
              <a:lnSpc>
                <a:spcPts val="1500"/>
              </a:lnSpc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 out the </a:t>
            </a:r>
            <a:r>
              <a:rPr lang="en-US" sz="885" b="1" dirty="0" err="1">
                <a:solidFill>
                  <a:srgbClr val="FF4D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STRATEGIST.md</a:t>
            </a: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 with your project mandate, constraints, and autonomy level.</a:t>
            </a:r>
          </a:p>
          <a:p>
            <a:pPr>
              <a:lnSpc>
                <a:spcPts val="1500"/>
              </a:lnSpc>
            </a:pPr>
            <a:endParaRPr lang="en-US" sz="942" dirty="0">
              <a:solidFill>
                <a:srgbClr val="CCCCCC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(Auto) </a:t>
            </a:r>
          </a:p>
          <a:p>
            <a:pPr>
              <a:lnSpc>
                <a:spcPts val="1500"/>
              </a:lnSpc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skill to have the STRATEGIST interview and build your file. </a:t>
            </a:r>
          </a:p>
        </p:txBody>
      </p:sp>
      <p:sp>
        <p:nvSpPr>
          <p:cNvPr id="17" name="Shape 14"/>
          <p:cNvSpPr/>
          <p:nvPr/>
        </p:nvSpPr>
        <p:spPr>
          <a:xfrm>
            <a:off x="3619481" y="3939778"/>
            <a:ext cx="1905009" cy="346472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19481" y="3939778"/>
            <a:ext cx="14288" cy="346472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19481" y="3939778"/>
            <a:ext cx="1905009" cy="3683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727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vim .SPECS/</a:t>
            </a:r>
            <a:r>
              <a:rPr lang="en-US" sz="727" dirty="0" err="1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STRATEGIST.md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6095991" y="1401961"/>
            <a:ext cx="2476481" cy="317003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95991" y="1401961"/>
            <a:ext cx="2476481" cy="28575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00960" y="1544836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3294" dirty="0"/>
          </a:p>
        </p:txBody>
      </p:sp>
      <p:sp>
        <p:nvSpPr>
          <p:cNvPr id="23" name="Text 20"/>
          <p:cNvSpPr/>
          <p:nvPr/>
        </p:nvSpPr>
        <p:spPr>
          <a:xfrm>
            <a:off x="6381741" y="1687711"/>
            <a:ext cx="1904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6381741" y="2064544"/>
            <a:ext cx="19049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the Architect agent. It reads the blueprint and spawns the first Feature Lead.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6381741" y="3807619"/>
            <a:ext cx="1904981" cy="478631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381741" y="3807619"/>
            <a:ext cx="14288" cy="478631"/>
          </a:xfrm>
          <a:prstGeom prst="rect">
            <a:avLst/>
          </a:prstGeom>
          <a:solidFill>
            <a:srgbClr val="FF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81741" y="3807619"/>
            <a:ext cx="1904981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9B7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Start Architect Agent
python3 router.py next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1041</Words>
  <Application>Microsoft Macintosh PowerPoint</Application>
  <PresentationFormat>On-screen Show (16:9)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Roboto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kevin deng</cp:lastModifiedBy>
  <cp:revision>2</cp:revision>
  <dcterms:created xsi:type="dcterms:W3CDTF">2026-02-28T02:19:13Z</dcterms:created>
  <dcterms:modified xsi:type="dcterms:W3CDTF">2026-03-16T20:45:08Z</dcterms:modified>
</cp:coreProperties>
</file>